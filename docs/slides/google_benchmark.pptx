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</c:v>
                </c:pt>
              </c:strCache>
            </c:strRef>
          </c:tx>
          <c:spPr>
            <a:ln w="38100">
              <a:solidFill>
                <a:srgbClr val="8A96A3"/>
              </a:solidFill>
            </a:ln>
          </c:spPr>
          <c:marker>
            <c:symbol val="circle"/>
            <c:size val="7"/>
            <c:spPr>
              <a:solidFill>
                <a:srgbClr val="8A96A3"/>
              </a:solidFill>
              <a:ln>
                <a:solidFill>
                  <a:srgbClr val="8A96A3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8.32</c:v>
                </c:pt>
                <c:pt idx="1">
                  <c:v>18.89</c:v>
                </c:pt>
                <c:pt idx="2">
                  <c:v>52.01</c:v>
                </c:pt>
                <c:pt idx="3">
                  <c:v>180.38</c:v>
                </c:pt>
                <c:pt idx="4">
                  <c:v>714.23</c:v>
                </c:pt>
                <c:pt idx="5">
                  <c:v>2738.4</c:v>
                </c:pt>
                <c:pt idx="6">
                  <c:v>10911.94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Binária</c:v>
                </c:pt>
              </c:strCache>
            </c:strRef>
          </c:tx>
          <c:spPr>
            <a:ln w="38100">
              <a:solidFill>
                <a:srgbClr val="16A394"/>
              </a:solidFill>
            </a:ln>
          </c:spPr>
          <c:marker>
            <c:symbol val="circle"/>
            <c:size val="7"/>
            <c:spPr>
              <a:solidFill>
                <a:srgbClr val="16A394"/>
              </a:solidFill>
              <a:ln>
                <a:solidFill>
                  <a:srgbClr val="16A394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15.62</c:v>
                </c:pt>
                <c:pt idx="1">
                  <c:v>22.65</c:v>
                </c:pt>
                <c:pt idx="2">
                  <c:v>29.85</c:v>
                </c:pt>
                <c:pt idx="3">
                  <c:v>37.52</c:v>
                </c:pt>
                <c:pt idx="4">
                  <c:v>44.33</c:v>
                </c:pt>
                <c:pt idx="5">
                  <c:v>56.34</c:v>
                </c:pt>
                <c:pt idx="6">
                  <c:v>69.24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unordered_set</c:v>
                </c:pt>
              </c:strCache>
            </c:strRef>
          </c:tx>
          <c:spPr>
            <a:ln w="38100">
              <a:solidFill>
                <a:srgbClr val="7B5CC4"/>
              </a:solidFill>
            </a:ln>
          </c:spPr>
          <c:marker>
            <c:symbol val="circle"/>
            <c:size val="7"/>
            <c:spPr>
              <a:solidFill>
                <a:srgbClr val="7B5CC4"/>
              </a:solidFill>
              <a:ln>
                <a:solidFill>
                  <a:srgbClr val="7B5CC4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8.01</c:v>
                </c:pt>
                <c:pt idx="1">
                  <c:v>7.59</c:v>
                </c:pt>
                <c:pt idx="2">
                  <c:v>8.9</c:v>
                </c:pt>
                <c:pt idx="3">
                  <c:v>9.29</c:v>
                </c:pt>
                <c:pt idx="4">
                  <c:v>9.93</c:v>
                </c:pt>
                <c:pt idx="5">
                  <c:v>11.32</c:v>
                </c:pt>
                <c:pt idx="6">
                  <c:v>12.34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0C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 w="9525">
              <a:solidFill>
                <a:srgbClr val="DDE2E7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7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1ª versão: N consultas</c:v>
                </c:pt>
              </c:strCache>
            </c:strRef>
          </c:tx>
          <c:spPr>
            <a:ln w="38100">
              <a:solidFill>
                <a:srgbClr val="8A96A3"/>
              </a:solidFill>
            </a:ln>
          </c:spPr>
          <c:marker>
            <c:symbol val="circle"/>
            <c:size val="7"/>
            <c:spPr>
              <a:solidFill>
                <a:srgbClr val="8A96A3"/>
              </a:solidFill>
              <a:ln>
                <a:solidFill>
                  <a:srgbClr val="8A96A3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3.56</c:v>
                </c:pt>
                <c:pt idx="1">
                  <c:v>5.03</c:v>
                </c:pt>
                <c:pt idx="2">
                  <c:v>8.12</c:v>
                </c:pt>
                <c:pt idx="3">
                  <c:v>9.72</c:v>
                </c:pt>
                <c:pt idx="4">
                  <c:v>38.32</c:v>
                </c:pt>
                <c:pt idx="5">
                  <c:v>55.64</c:v>
                </c:pt>
                <c:pt idx="6">
                  <c:v>70.58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Corrigida: 65.536 consultas</c:v>
                </c:pt>
              </c:strCache>
            </c:strRef>
          </c:tx>
          <c:spPr>
            <a:ln w="38100">
              <a:solidFill>
                <a:srgbClr val="16A394"/>
              </a:solidFill>
            </a:ln>
          </c:spPr>
          <c:marker>
            <c:symbol val="circle"/>
            <c:size val="7"/>
            <c:spPr>
              <a:solidFill>
                <a:srgbClr val="16A394"/>
              </a:solidFill>
              <a:ln>
                <a:solidFill>
                  <a:srgbClr val="16A394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15.62</c:v>
                </c:pt>
                <c:pt idx="1">
                  <c:v>22.65</c:v>
                </c:pt>
                <c:pt idx="2">
                  <c:v>29.85</c:v>
                </c:pt>
                <c:pt idx="3">
                  <c:v>37.52</c:v>
                </c:pt>
                <c:pt idx="4">
                  <c:v>44.33</c:v>
                </c:pt>
                <c:pt idx="5">
                  <c:v>56.34</c:v>
                </c:pt>
                <c:pt idx="6">
                  <c:v>69.24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0C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 w="9525">
              <a:solidFill>
                <a:srgbClr val="DDE2E7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7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vector</c:v>
                </c:pt>
              </c:strCache>
            </c:strRef>
          </c:tx>
          <c:spPr>
            <a:solidFill>
              <a:srgbClr val="16A394"/>
            </a:solidFill>
          </c:spPr>
          <c:cat>
            <c:strRef>
              <c:f>Sheet1!$A$2:$A$6</c:f>
              <c:strCache>
                <c:ptCount val="5"/>
                <c:pt idx="0">
                  <c:v>1.024</c:v>
                </c:pt>
                <c:pt idx="1">
                  <c:v>4.096</c:v>
                </c:pt>
                <c:pt idx="2">
                  <c:v>32.768</c:v>
                </c:pt>
                <c:pt idx="3">
                  <c:v>262.144</c:v>
                </c:pt>
                <c:pt idx="4">
                  <c:v>1.048.576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0.113</c:v>
                </c:pt>
                <c:pt idx="1">
                  <c:v>0.11</c:v>
                </c:pt>
                <c:pt idx="2">
                  <c:v>0.109</c:v>
                </c:pt>
                <c:pt idx="3">
                  <c:v>0.115</c:v>
                </c:pt>
                <c:pt idx="4">
                  <c:v>0.114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</c:v>
                </c:pt>
              </c:strCache>
            </c:strRef>
          </c:tx>
          <c:spPr>
            <a:solidFill>
              <a:srgbClr val="FF6B2C"/>
            </a:solidFill>
          </c:spPr>
          <c:cat>
            <c:strRef>
              <c:f>Sheet1!$A$2:$A$6</c:f>
              <c:strCache>
                <c:ptCount val="5"/>
                <c:pt idx="0">
                  <c:v>1.024</c:v>
                </c:pt>
                <c:pt idx="1">
                  <c:v>4.096</c:v>
                </c:pt>
                <c:pt idx="2">
                  <c:v>32.768</c:v>
                </c:pt>
                <c:pt idx="3">
                  <c:v>262.144</c:v>
                </c:pt>
                <c:pt idx="4">
                  <c:v>1.048.576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1.029</c:v>
                </c:pt>
                <c:pt idx="1">
                  <c:v>0.995</c:v>
                </c:pt>
                <c:pt idx="2">
                  <c:v>1.014</c:v>
                </c:pt>
                <c:pt idx="3">
                  <c:v>1.002</c:v>
                </c:pt>
                <c:pt idx="4">
                  <c:v>1.282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B222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0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E2E7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7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Binária</c:v>
                </c:pt>
              </c:strCache>
            </c:strRef>
          </c:tx>
          <c:spPr>
            <a:solidFill>
              <a:srgbClr val="16A394"/>
            </a:solidFill>
          </c:spP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15.62</c:v>
                </c:pt>
                <c:pt idx="1">
                  <c:v>22.65</c:v>
                </c:pt>
                <c:pt idx="2">
                  <c:v>29.85</c:v>
                </c:pt>
                <c:pt idx="3">
                  <c:v>37.52</c:v>
                </c:pt>
                <c:pt idx="4">
                  <c:v>44.33</c:v>
                </c:pt>
                <c:pt idx="5">
                  <c:v>56.34</c:v>
                </c:pt>
                <c:pt idx="6">
                  <c:v>69.24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Branchless</c:v>
                </c:pt>
              </c:strCache>
            </c:strRef>
          </c:tx>
          <c:spPr>
            <a:solidFill>
              <a:srgbClr val="FF6B2C"/>
            </a:solidFill>
          </c:spPr>
          <c:cat>
            <c:strRef>
              <c:f>Sheet1!$A$2:$A$8</c:f>
              <c:strCache>
                <c:ptCount val="7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1.024</c:v>
                </c:pt>
                <c:pt idx="4">
                  <c:v>4.096</c:v>
                </c:pt>
                <c:pt idx="5">
                  <c:v>16.384</c:v>
                </c:pt>
                <c:pt idx="6">
                  <c:v>65.536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3.69</c:v>
                </c:pt>
                <c:pt idx="1">
                  <c:v>4.72</c:v>
                </c:pt>
                <c:pt idx="2">
                  <c:v>6.06</c:v>
                </c:pt>
                <c:pt idx="3">
                  <c:v>7.44</c:v>
                </c:pt>
                <c:pt idx="4">
                  <c:v>9.31</c:v>
                </c:pt>
                <c:pt idx="5">
                  <c:v>13.91</c:v>
                </c:pt>
                <c:pt idx="6">
                  <c:v>19.49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B222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0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E2E7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sobre a biblioteca Google Benchmark: o que é, como usar, e um piloto prático medindo diferentes implementações de busca num projeto C++ próprio. Os números no terminal à direita são reais, da minha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mundo já fez isso. O problema é que esse código tem pelo menos quatro fontes de erro. A mais grave é a primeira: como o retorno não é usado, o otimizador pode remover a chamada inteira, e a gente vai mostrar isso acontecendo no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central: você escreve o corpo do laço e a biblioteca decide quantas vezes executar. Os seis recursos à direita são os que eu usei no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o trecho real do CMakeLists do piloto. O detalhe importante é o benchmark_main, que evita escrever o main. E sempre medir em Release: no meu script ./run -B isso é forçado.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o benchmark real do piloto. O range(0) é o parâmetro N que vem do Range. O laço for (auto _ : state) é o coração: a biblioteca roda até ter uma medição estável, de algumas centenas de milissegundos por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Repare nas iterações: a biblioteca rodou 84 milhões de vezes o caso pequeno e 61 mil o grande. Tudo isso para acumular tempo suficiente para uma medição estável. O RMS de 1% diz que o modelo O(N) explica muito bem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Argumentos: um benchmark vira uma família, um por tamanho. Templates: mesmo código com tipos diferentes; usei para vector contra list. Fixtures: quando o setup é pesado ou compartilhado, como montar o unordered_set.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ajuste de complexidade é um dos recursos mais interessantes: a biblioteca faz uma regressão e diz qual Big-O melhor explica os dados. O RMS é o erro desse ajuste; vamos ver que ele serve até para detectar benchmark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flags que eu mais usei no piloto. E o ambiente importa tanto quanto o código: o CV (coeficiente de variação) diz se a medição está confiável. No piloto ficou abaixo de 1% na maioria dos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o piloto. Montei um projeto a partir do meu template C++ (CPP_SKELETON) e usei a biblioteca para tomar decisões sobre uma implementação de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busca responde se um valor está no vetor. Os testes unitários (2018 asserções) garantem que as quatro concordam antes de medir. Não adianta ser rápido e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cresce 4x a cada passo, a binária quase não se mexe e o hash é praticamente constante. O % à direita é o RMS do ajuste. Mas atenção ao começo do gráfico: para vetores pequenos a busca linear ganha da binária. Big-O não diz qual é mais rápido no seu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o erro mais clássico. O número de cima parece incrível e é falso: o compilador provou que o laço não tem efeito e o apagou. Detalhe da v1.9.5: DoNotOptimize com referência const foi descontinuado, e o compilador deu warning no meu piloto até eu trocar para variável não-const.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eu descobri durante o piloto. O degrau entre 1024 e 4096 não fazia sentido para O(log N), e o RMS de 55% denunciou. A causa: com só N consultas em ciclo, o preditor de desvios da Zen 3 memorizava a sequência. Usando sempre 65.536 consultas, a curva ficou logarítmica e o RMS caiu para 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SetBytesProcessed dá a vazão direto na saída. O vector passa de 30 GB/s; a list fica perto de 4, e piora com 1 milhão de elementos porque os nós deixam de caber no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os números da pegadinha 2, dava para suspeitar dos desvios. A versão branchless troca o if por um cmov: o compilador gerou cmovg, conferido no objdump. Agora é medir se valeu a pena.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compare.py vem com a biblioteca. Ele compara as repetições das duas versões e roda um teste U de Mann-Whitney. O p-valor de 0,0002 é o mínimo possível com 10 contra 10 amostras: a diferença é real, cerca de 4,4 vezes mais rápido. A branchless em N=16 (3,7 ns) ganha até da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Resumo do que aprendi no piloto. O último ponto é importante: microbenchmark mede um trecho isolado, com cache quente. Serve para comparar alternativas, não para prever o tempo do sistema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para a documentação oficial. O guia do usuário cobre todos os recursos mostrados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Arial"/>
              </a:rPr>
              <a:t>C++  ·  PERFORMANCE  ·  MICROBENCHMARKS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Google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5669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9D1D9"/>
                </a:solidFill>
                <a:latin typeface="Arial"/>
              </a:rPr>
              <a:t>Medindo desempenho de código C++ sem se enganar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Lucas Araújo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6A3"/>
                </a:solidFill>
                <a:latin typeface="Arial"/>
              </a:rPr>
              <a:t>Setembro de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463040"/>
            <a:ext cx="4754880" cy="356616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42976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$ ./benchmarks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Benchmark               Time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-----------------------------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BM_LinearSearch/16    8.3 ns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BM_LinearSearch/1024   180 ns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BM_LinearSearch/65536 10912 ns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BM_LinearSearch_BigO  0.17 N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BM_BinarySearch/65536 69.2 ns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6EAF0"/>
                </a:solidFill>
                <a:latin typeface="Courier New"/>
              </a:rPr>
              <a:t>BM_BinarySearch_BigO  4.00 lgN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Por que não só std::chrono?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O jeito ingênuo de medir tempo tem armadilhas que não aparecem no número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120640" cy="448056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11095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6A3"/>
                </a:solidFill>
                <a:latin typeface="Arial"/>
              </a:rPr>
              <a:t>MEDIÇÃO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6634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t0 = std::chrono::steady_clock::now();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(int i = 0; i &lt; 1000; ++i)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LinearContains(values, 42);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t1 = std::chrono::steady_clock::now();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std::cout &lt;&lt; (t1 - t0) / 1000 &lt;&lt; </a:t>
            </a:r>
            <a:r>
              <a:rPr sz="1300" b="0" i="0">
                <a:solidFill>
                  <a:srgbClr val="B5D67A"/>
                </a:solidFill>
                <a:latin typeface="Courier New"/>
              </a:rPr>
              <a:t>"\n"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7F8C99"/>
                </a:solidFill>
                <a:latin typeface="Courier New"/>
              </a:rPr>
              <a:t>// Mediu o quê, exatamente?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182880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922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O compilador pode apagar o que você mede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O resultado não é usado; com -O3 o laço inteiro some.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944368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0779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Quantas iterações? 1000 é chute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10127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Pouco demais vira ruído; demais desperdiça tempo.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4059935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023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Sem aquecimento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42569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Cache, TLB e frequência da CPU ainda estão "frios".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5175504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138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Sem estatística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54126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Uma execução só. Ficou mais rápido mesmo ou foi sorte?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O que é o Google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3931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B222A"/>
                </a:solidFill>
                <a:latin typeface="Arial"/>
              </a:rPr>
              <a:t>Biblioteca open source do Google (licença Apache 2.0) para microbenchmarks em C++.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B222A"/>
                </a:solidFill>
                <a:latin typeface="Arial"/>
              </a:rPr>
              <a:t>Você escreve só o trecho a medir. A biblioteca cuida do resto: quantas vezes rodar, como agregar e como exportar.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6B2C"/>
                </a:solidFill>
                <a:latin typeface="Arial"/>
              </a:rPr>
              <a:t>github.com/google/benchmark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2"/>
                </a:solidFill>
                <a:latin typeface="Arial"/>
              </a:rPr>
              <a:t>Versão usada no piloto: v1.9.5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3258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Iterações automáticas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92807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Roda até o tempo estabilizar; você não escolhe o N de repetições.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59" y="13258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59" y="15087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Parâmetros e ranges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59" y="1892807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Um benchmark, vários tamanhos: Arg, Range, DenseRange.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01752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2004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Big-O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58444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Ajusta O(1), O(N), O(N log N)… aos dados e reporta o erro.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301752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32004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Fixtures e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58444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Setup compartilhado e o mesmo teste para vários tipos.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70916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8920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Counters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27608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items/s, bytes/s ou qualquer métrica sua como coluna.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59" y="470916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8920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Arial"/>
              </a:rPr>
              <a:t>JSON/CSV + compare.py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527608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Exporta resultados e compara A/B com teste estatístico.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Setup com CMake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Sem instalar nada no sistema: o CMake baixa e compila junto com o projeto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675120" cy="452628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11095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6A3"/>
                </a:solidFill>
                <a:latin typeface="Arial"/>
              </a:rPr>
              <a:t>CMakeLists.txt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2179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INCLUDE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(FetchContent)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SET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BENCHMARK_ENABLE_TESTING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OFF CACHE BOOL </a:t>
            </a:r>
            <a:r>
              <a:rPr sz="1200" b="0" i="0">
                <a:solidFill>
                  <a:srgbClr val="B5D67A"/>
                </a:solidFill>
                <a:latin typeface="Courier New"/>
              </a:rPr>
              <a:t>""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FORCE)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FetchContent_Declare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googlebenchmark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GIT_REPOSITORY https:</a:t>
            </a:r>
            <a:r>
              <a:rPr sz="1200" b="0" i="0">
                <a:solidFill>
                  <a:srgbClr val="7F8C99"/>
                </a:solidFill>
                <a:latin typeface="Courier New"/>
              </a:rPr>
              <a:t>//github.com/google/benchmark.git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GIT_TAG v1.9.5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GIT_SHALLOW TRUE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FetchContent_MakeAvailable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(googlebenchmark)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ADD_EXECUTABLE(benchmarks ${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BENCHMARKS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})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TARGET_LINK_LIBRARIES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(benchmarks searchlib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benchmark::benchmark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benchmark::benchmark_main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)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82880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9222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FetchContent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Clona a tag v1.9.5 e compila como subprojeto.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92608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895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benchmark_main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Já fornece o main(); o arquivo só tem os benchmarks.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02336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8678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Sempre em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8912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Medir -O0 não diz nada sobre produção.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51663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530352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22A"/>
                </a:solidFill>
                <a:latin typeface="Arial"/>
              </a:rPr>
              <a:t>Alternativas: 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772"/>
                </a:solidFill>
                <a:latin typeface="Arial"/>
              </a:rPr>
              <a:t>apt install libbenchmark-dev · vcpkg · conan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Anatomia de um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6766560" cy="502920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30936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C8BC"/>
                </a:solidFill>
                <a:latin typeface="Courier New"/>
              </a:rPr>
              <a:t>static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void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BM_LinearSearch(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benchmark::State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&amp;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{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const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values  = MakeSortedEvens(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state.range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(0));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const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queries = MakeQueries(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state.range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(0), kN);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std::size_t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i = 0;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(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_ :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{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5CC8BC"/>
                </a:solidFill>
                <a:latin typeface="Courier New"/>
              </a:rPr>
              <a:t>bool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 found = LinearContains(values, queries[i]);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   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benchmark::DoNotOptimize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(found);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    i = (i + 1) % queries.size();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}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state.SetItemsProcessed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state.iterations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());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state.SetComplexityN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state.range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(0));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}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9A66"/>
                </a:solidFill>
                <a:latin typeface="Courier New"/>
              </a:rPr>
              <a:t>BENCHMARK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(BM_LinearSearch)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-&gt;RangeMultiplier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(4)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-&gt;Range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(16, 1 &lt;&lt; 16)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50" b="0" i="0">
                <a:solidFill>
                  <a:srgbClr val="FF9A66"/>
                </a:solidFill>
                <a:latin typeface="Courier New"/>
              </a:rPr>
              <a:t>-&gt;Complexity</a:t>
            </a:r>
            <a:r>
              <a:rPr sz="1250" b="0" i="0">
                <a:solidFill>
                  <a:srgbClr val="E6EAF0"/>
                </a:solidFill>
                <a:latin typeface="Courier New"/>
              </a:rPr>
              <a:t>();</a:t>
            </a:r>
          </a:p>
        </p:txBody>
      </p:sp>
      <p:sp>
        <p:nvSpPr>
          <p:cNvPr id="5" name="Oval 4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28930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Setup fora do laço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5506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Montar os dados não entra na medição.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233172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29514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for (auto _ :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660903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Só o corpo é cronometrado. A lib escolhe quantas vezes rodar.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0" y="333756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300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DoNotOptimize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66674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Obriga o compilador a produzir o valor, então ele não pode apagar a chamada.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434340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30682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Counters e Big-O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6725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Vazão (items/s) e o N usado no ajuste de complexidade.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5349240"/>
            <a:ext cx="384048" cy="38404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1266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Registro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67842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N = 16, 64, …, 65.536, e no final o Big-O ajustado.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Lendo a saída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Execução real no Ryzen 5 5600X, filtrada para a busca linear (cabeçalho resumido)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251460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5276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Run on (12 X 4245.21 MHz CPU s)    CPU Caches: L1 32 KiB · L2 512 KiB · L3 32 MiB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--------------------------------------------------------------------------------------------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Benchmark                  Time             CPU   Iterations UserCounters...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--------------------------------------------------------------------------------------------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BM_LinearSearch/16      8.29 ns         8.29 ns     84806745 items_per_second=120.589M/s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BM_LinearSearch/1024     187 ns          186 ns      3917884 items_per_second=5.36194M/s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BM_LinearSearch/65536  10877 ns        10876 ns        61383 items_per_second=91.9456k/s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BM_LinearSearch_BigO    0.17 N          0.17 N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BM_LinearSearch_RMS        1 %             1 %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2C"/>
                </a:solidFill>
                <a:latin typeface="Arial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389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Tempo de relógio por iteração.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5720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754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2C"/>
                </a:solidFill>
                <a:latin typeface="Arial"/>
              </a:rP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1389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Tempo de CPU da thread. Se difere de Time, houve espera.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754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2C"/>
                </a:solidFill>
                <a:latin typeface="Arial"/>
              </a:rPr>
              <a:t>Iterations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1389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Escolhido automaticamente: 84 mi para N=16, 61 mil para N=65.536.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5720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47548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2C"/>
                </a:solidFill>
                <a:latin typeface="Arial"/>
              </a:rPr>
              <a:t>BigO / 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51389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Coeficiente ajustado (0,17·N) e o erro do ajuste.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Parametrizando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Três formas de reaproveitar um benchmark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237744" cy="23774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22A"/>
                </a:solidFill>
                <a:latin typeface="Arial"/>
              </a:rPr>
              <a:t>Argumentos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520440" cy="3749039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06324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-&gt;Arg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(1024)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-&gt;Args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({1024, 8})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-&gt;Range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(16, 1 &lt;&lt; 16)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-&gt;RangeMultiplier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(4)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-&gt;DenseRange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(0, 64, 8)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7F8C99"/>
                </a:solidFill>
                <a:latin typeface="Courier New"/>
              </a:rPr>
              <a:t>// no corpo: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state.range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(0)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state.range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(1)</a:t>
            </a:r>
          </a:p>
        </p:txBody>
      </p:sp>
      <p:sp>
        <p:nvSpPr>
          <p:cNvPr id="8" name="Oval 7"/>
          <p:cNvSpPr/>
          <p:nvPr/>
        </p:nvSpPr>
        <p:spPr>
          <a:xfrm>
            <a:off x="4297679" y="1783080"/>
            <a:ext cx="237744" cy="237744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19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22A"/>
                </a:solidFill>
                <a:latin typeface="Arial"/>
              </a:rPr>
              <a:t>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286000"/>
            <a:ext cx="3520440" cy="3749039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514600"/>
            <a:ext cx="306324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template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&lt;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typename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C&gt;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static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void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BM_Accumulate(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benchmark::State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&amp; 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state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{ ... }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BENCHMARK_TEMPLATE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(BM_Accumulate,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std::vector&lt;int32_t&gt;);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BENCHMARK_TEMPLATE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(BM_Accumulate,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std::list&lt;int32_t&gt;);</a:t>
            </a:r>
          </a:p>
        </p:txBody>
      </p:sp>
      <p:sp>
        <p:nvSpPr>
          <p:cNvPr id="12" name="Oval 11"/>
          <p:cNvSpPr/>
          <p:nvPr/>
        </p:nvSpPr>
        <p:spPr>
          <a:xfrm>
            <a:off x="8046719" y="1783080"/>
            <a:ext cx="237744" cy="237744"/>
          </a:xfrm>
          <a:prstGeom prst="ellipse">
            <a:avLst/>
          </a:prstGeom>
          <a:solidFill>
            <a:srgbClr val="7B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19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222A"/>
                </a:solidFill>
                <a:latin typeface="Arial"/>
              </a:rPr>
              <a:t>Fixtures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286000"/>
            <a:ext cx="3520440" cy="3749039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514600"/>
            <a:ext cx="306324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CC8BC"/>
                </a:solidFill>
                <a:latin typeface="Courier New"/>
              </a:rPr>
              <a:t>class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HashFix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: 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public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benchmark::Fixture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{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void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SetUp(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State&amp;)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  </a:t>
            </a:r>
            <a:r>
              <a:rPr sz="1200" b="0" i="0">
                <a:solidFill>
                  <a:srgbClr val="5CC8BC"/>
                </a:solidFill>
                <a:latin typeface="Courier New"/>
              </a:rPr>
              <a:t>override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 { ... }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};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BENCHMARK_DEFINE_F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(HashFix,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BM_Lookup)(State&amp; st)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{ ... }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9A66"/>
                </a:solidFill>
                <a:latin typeface="Courier New"/>
              </a:rPr>
              <a:t>BENCHMARK_REGISTER_F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(HashFix,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E6EAF0"/>
                </a:solidFill>
                <a:latin typeface="Courier New"/>
              </a:rPr>
              <a:t>    BM_Lookup)</a:t>
            </a:r>
            <a:r>
              <a:rPr sz="1200" b="0" i="0">
                <a:solidFill>
                  <a:srgbClr val="FF9A66"/>
                </a:solidFill>
                <a:latin typeface="Courier New"/>
              </a:rPr>
              <a:t>-&gt;Range</a:t>
            </a:r>
            <a:r>
              <a:rPr sz="1200" b="0" i="0">
                <a:solidFill>
                  <a:srgbClr val="E6EAF0"/>
                </a:solidFill>
                <a:latin typeface="Courier New"/>
              </a:rPr>
              <a:t>(16, 1&lt;&lt;16);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Medindo além do tempo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Complexidade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35607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Courier New"/>
              </a:rPr>
              <a:t>-&gt;Complexity()   ou   -&gt;Complexity(benchmark::oNLogN)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0136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Com state.SetComplexityN(n), gera as linhas _BigO e _RMS.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39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7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Vazão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8716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Courier New"/>
              </a:rPr>
              <a:t>state.SetItemsProcessed(...)   state.SetBytesProcessed(...)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52927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Vira items_per_second e bytes_per_second na saída.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Counters próprios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3872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Courier New"/>
              </a:rPr>
              <a:t>state.counters["hit_rate"] = benchmark::Counter(v);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04487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Qualquer métrica do domínio, com flags de taxa e média.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59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199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Controle do timer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59028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Courier New"/>
              </a:rPr>
              <a:t>state.PauseTiming();  /* prepara */  state.ResumeTiming();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5604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Tira preparo da medição, mas tem custo próprio: use com cuidado.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2355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Threads e unidade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64184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2C"/>
                </a:solidFill>
                <a:latin typeface="Courier New"/>
              </a:rPr>
              <a:t>-&gt;Threads(4)   -&gt;UseRealTime()   -&gt;Unit(benchmark::kMicrosecond)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600760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Mede código concorrente e ajusta a unidade exibida.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Linha de comando e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--benchmark_filter=Search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38988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regex: roda só o que casar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4825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--benchmark_repetitions=10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0665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repete tudo, gera mean/median/stddev/cv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--benchmark_report_aggregates_only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43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mostra só os agregados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--benchmark_min_time=2s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41985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tempo mínimo por benchmark (ou 1000x)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782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--benchmark_min_warmup_time=0.5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096511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aquece antes de 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--benchmark_out=run.json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77316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salva JSON/CSV para comparar depois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3153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Courier New"/>
              </a:rPr>
              <a:t>--benchmark_list_tests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449823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lista os benchmarks registrados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25880"/>
            <a:ext cx="3657600" cy="498348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54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Ambiente de medição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03120"/>
            <a:ext cx="3200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400" b="0" i="0">
                <a:solidFill>
                  <a:srgbClr val="D5DCE3"/>
                </a:solidFill>
                <a:latin typeface="Arial"/>
              </a:rPr>
              <a:t>Build Release (-O3)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400" b="0" i="0">
                <a:solidFill>
                  <a:srgbClr val="D5DCE3"/>
                </a:solidFill>
                <a:latin typeface="Arial"/>
              </a:rPr>
              <a:t>Fixar core: taskset -c 2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400" b="0" i="0">
                <a:solidFill>
                  <a:srgbClr val="D5DCE3"/>
                </a:solidFill>
                <a:latin typeface="Arial"/>
              </a:rPr>
              <a:t>Governor em performance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400" b="0" i="0">
                <a:solidFill>
                  <a:srgbClr val="D5DCE3"/>
                </a:solidFill>
                <a:latin typeface="Arial"/>
              </a:rPr>
              <a:t>Máquina ociosa: nada de compilar ou abrir o navegador enquanto mede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400" b="0" i="0">
                <a:solidFill>
                  <a:srgbClr val="D5DCE3"/>
                </a:solidFill>
                <a:latin typeface="Arial"/>
              </a:rPr>
              <a:t>Olhar mediana e CV, não uma execução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2C"/>
                </a:solidFill>
                <a:latin typeface="Arial"/>
              </a:rPr>
              <a:t>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Busca em vetor ordenado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D1D9"/>
                </a:solidFill>
                <a:latin typeface="Arial"/>
              </a:rPr>
              <a:t>Uma biblioteca pequena, quatro implementações e três pegadinhas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6B2C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5663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96A3"/>
                </a:solidFill>
                <a:latin typeface="Arial"/>
              </a:rPr>
              <a:t>implementações
de busca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416052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6B2C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505663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96A3"/>
                </a:solidFill>
                <a:latin typeface="Arial"/>
              </a:rPr>
              <a:t>tamanhos
16 → 65.536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16052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6B2C"/>
                </a:solidFill>
                <a:latin typeface="Arial"/>
              </a:rPr>
              <a:t>4,4×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056631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96A3"/>
                </a:solidFill>
                <a:latin typeface="Arial"/>
              </a:rPr>
              <a:t>ganho da versão
branchless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GBENCH_PILOT: baseado no CPP_SKELETON, com doctest para correção e Google Benchmark para desempenho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4480560" cy="338328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0233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GBENCH_PILOT/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├── include/search.h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├── src/search.cc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├── test/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│   ├── unit/main_doctest.cc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│   └── benchmarks/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│       ├── bm_search.cc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│       └── bm_pitfalls.cc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├── results/*.json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└── run            # ./run -B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783080"/>
            <a:ext cx="6309360" cy="731520"/>
          </a:xfrm>
          <a:prstGeom prst="roundRect">
            <a:avLst>
              <a:gd name="adj" fmla="val 12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32120" y="2002536"/>
            <a:ext cx="292608" cy="292608"/>
          </a:xfrm>
          <a:prstGeom prst="ellipse">
            <a:avLst/>
          </a:prstGeom>
          <a:solidFill>
            <a:srgbClr val="8A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56231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Courier New"/>
              </a:rPr>
              <a:t>LinearContains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17627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Varre o vetor inteiro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874519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8A96A3"/>
                </a:solidFill>
                <a:latin typeface="Arial"/>
              </a:rPr>
              <a:t>O(N)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651760"/>
            <a:ext cx="6309360" cy="731520"/>
          </a:xfrm>
          <a:prstGeom prst="roundRect">
            <a:avLst>
              <a:gd name="adj" fmla="val 12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32120" y="2871215"/>
            <a:ext cx="292608" cy="292608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72491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Courier New"/>
              </a:rPr>
              <a:t>BinaryContains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4495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Binária clássica com 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4320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16A394"/>
                </a:solidFill>
                <a:latin typeface="Arial"/>
              </a:rPr>
              <a:t>O(log 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520439"/>
            <a:ext cx="6309360" cy="731520"/>
          </a:xfrm>
          <a:prstGeom prst="roundRect">
            <a:avLst>
              <a:gd name="adj" fmla="val 12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32120" y="3739896"/>
            <a:ext cx="292608" cy="292608"/>
          </a:xfrm>
          <a:prstGeom prst="ellipse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93591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Courier New"/>
              </a:rPr>
              <a:t>BranchlessBinaryContains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913631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Binária sem desvio (cmov)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611879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F6B2C"/>
                </a:solidFill>
                <a:latin typeface="Arial"/>
              </a:rPr>
              <a:t>O(log 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4389120"/>
            <a:ext cx="6309360" cy="731520"/>
          </a:xfrm>
          <a:prstGeom prst="roundRect">
            <a:avLst>
              <a:gd name="adj" fmla="val 12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32120" y="4608576"/>
            <a:ext cx="292608" cy="292608"/>
          </a:xfrm>
          <a:prstGeom prst="ellipse">
            <a:avLst/>
          </a:prstGeom>
          <a:solidFill>
            <a:srgbClr val="7B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46227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A"/>
                </a:solidFill>
                <a:latin typeface="Courier New"/>
              </a:rPr>
              <a:t>std::unordered_set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78231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2"/>
                </a:solidFill>
                <a:latin typeface="Arial"/>
              </a:rPr>
              <a:t>Hash, via fixture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480559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7B5CC4"/>
                </a:solidFill>
                <a:latin typeface="Arial"/>
              </a:rPr>
              <a:t>O(1)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39496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Arial"/>
              </a:rPr>
              <a:t>Ambiente: </a:t>
            </a:r>
            <a:r>
              <a:rPr sz="1300" b="0" i="0">
                <a:solidFill>
                  <a:srgbClr val="5B6772"/>
                </a:solidFill>
                <a:latin typeface="Arial"/>
              </a:rPr>
              <a:t>Ryzen 5 5600X · g++ 15.2 -O3 · taskset -c 2 · governor performance · 5 a 10 repetições, mediana · 65.536 consultas aleatórias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A complexidade aparece nos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Tempo por consulta (ns, escala log) × tamanho do vetor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64592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6916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22A"/>
                </a:solidFill>
                <a:latin typeface="Arial"/>
              </a:rPr>
              <a:t>Big-O que a lib ajustou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194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1945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96A3"/>
                </a:solidFill>
                <a:latin typeface="Courier New"/>
              </a:rPr>
              <a:t>0.17·N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219456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5B6772"/>
                </a:solidFill>
                <a:latin typeface="Arial"/>
              </a:rPr>
              <a:t>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5292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Binária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852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A394"/>
                </a:solidFill>
                <a:latin typeface="Courier New"/>
              </a:rPr>
              <a:t>4.00·lgN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85292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5B6772"/>
                </a:solidFill>
                <a:latin typeface="Arial"/>
              </a:rPr>
              <a:t>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51129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5112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B5CC4"/>
                </a:solidFill>
                <a:latin typeface="Courier New"/>
              </a:rPr>
              <a:t>9.62·(1)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351129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 i="0">
                <a:solidFill>
                  <a:srgbClr val="5B6772"/>
                </a:solidFill>
                <a:latin typeface="Arial"/>
              </a:rPr>
              <a:t>17%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343400"/>
            <a:ext cx="3337560" cy="19202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498848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Arial"/>
              </a:rPr>
              <a:t>Constantes importam. </a:t>
            </a:r>
            <a:r>
              <a:rPr sz="1300" b="0" i="0">
                <a:solidFill>
                  <a:srgbClr val="5B6772"/>
                </a:solidFill>
                <a:latin typeface="Arial"/>
              </a:rPr>
              <a:t>Em N=16 a linear (8,3 ns) vence a binária (15,6 ns): varrer 16 inteiros contíguos é barato.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Pegadinha 1: o compilador apagou o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Mesmo laço, soma de i² para i &lt; 65.536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760720" cy="214884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11095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6A3"/>
                </a:solidFill>
                <a:latin typeface="Arial"/>
              </a:rPr>
              <a:t>SEM DoNotOptimize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303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</a:t>
            </a:r>
            <a:r>
              <a:rPr sz="130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_ : </a:t>
            </a:r>
            <a:r>
              <a:rPr sz="1300" b="0" i="0">
                <a:solidFill>
                  <a:srgbClr val="FF9A66"/>
                </a:solidFill>
                <a:latin typeface="Courier New"/>
              </a:rPr>
              <a:t>state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) {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int64_t sum = 0;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(int64_t i = 0; i &lt; n; ++i)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    sum += i * i;          </a:t>
            </a:r>
            <a:r>
              <a:rPr sz="1300" b="0" i="0">
                <a:solidFill>
                  <a:srgbClr val="7F8C99"/>
                </a:solidFill>
                <a:latin typeface="Courier New"/>
              </a:rPr>
              <a:t>// nunca usado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760720" cy="219456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4281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6A3"/>
                </a:solidFill>
                <a:latin typeface="Arial"/>
              </a:rPr>
              <a:t>COM DoNotOptimize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530352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</a:t>
            </a:r>
            <a:r>
              <a:rPr sz="1300" b="0" i="0">
                <a:solidFill>
                  <a:srgbClr val="5CC8BC"/>
                </a:solidFill>
                <a:latin typeface="Courier New"/>
              </a:rPr>
              <a:t>auto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_ : </a:t>
            </a:r>
            <a:r>
              <a:rPr sz="1300" b="0" i="0">
                <a:solidFill>
                  <a:srgbClr val="FF9A66"/>
                </a:solidFill>
                <a:latin typeface="Courier New"/>
              </a:rPr>
              <a:t>state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) {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int64_t sum = 0;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5CC8BC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(int64_t i = 0; i &lt; n; ++i) {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    sum += i * i;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    </a:t>
            </a:r>
            <a:r>
              <a:rPr sz="1300" b="0" i="0">
                <a:solidFill>
                  <a:srgbClr val="FF9A66"/>
                </a:solidFill>
                <a:latin typeface="Courier New"/>
              </a:rPr>
              <a:t>benchmark::DoNotOptimize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(sum);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}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8A96A3"/>
                </a:solidFill>
                <a:latin typeface="Arial"/>
              </a:rPr>
              <a:t>0,000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2491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sem DoNotOptimize: -O3 viu que sum não é usado e removeu o laço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148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6B2C"/>
                </a:solidFill>
                <a:latin typeface="Arial"/>
              </a:rPr>
              <a:t>24,3 µs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01091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com DoNotOptimize: o trabalho real, 65.536 multiplicações e somas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Pegadinha 2: o hardware decorou o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Busca binária, 1ª versão (N consultas em ciclo) × versão corrigida (65.536 consultas)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645920"/>
          <a:ext cx="72237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01000" y="173736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6B2C"/>
                </a:solidFill>
                <a:latin typeface="Arial"/>
              </a:rPr>
              <a:t>3,9× otimista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6334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em N=1.024: 9,7 ns medidos, 37,5 ns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24612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22A"/>
                </a:solidFill>
                <a:latin typeface="Arial"/>
              </a:rPr>
              <a:t>RMS 55% →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142231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erro do ajuste O(log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663440"/>
            <a:ext cx="3657600" cy="164592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Arial"/>
              </a:rPr>
              <a:t>Lição: </a:t>
            </a:r>
            <a:r>
              <a:rPr sz="1300" b="0" i="0">
                <a:solidFill>
                  <a:srgbClr val="5B6772"/>
                </a:solidFill>
                <a:latin typeface="Arial"/>
              </a:rPr>
              <a:t>com poucas consultas repetidas, o preditor de desvios da CPU aprende o padrão. Big-O que não encaixa é sinal de benchmark errado.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Pegadinha 3: mesmo O(N), custo 10× diferente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std::accumulate em vector × list: ns por elemento (BENCHMARK_TEMPLATE)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645920"/>
          <a:ext cx="72237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01000" y="173736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6A394"/>
                </a:solidFill>
                <a:latin typeface="Arial"/>
              </a:rPr>
              <a:t>37 GB/s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6334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vector: memória contígua, prefetch e SIMD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20040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6B2C"/>
                </a:solidFill>
                <a:latin typeface="Arial"/>
              </a:rPr>
              <a:t>3,9 GB/s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09651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list: cada nó é um ponteiro para outro lugar da memória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8463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98348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22A"/>
                </a:solidFill>
                <a:latin typeface="Arial"/>
              </a:rPr>
              <a:t>Lição: </a:t>
            </a:r>
            <a:r>
              <a:rPr sz="1300" b="0" i="0">
                <a:solidFill>
                  <a:srgbClr val="5B6772"/>
                </a:solidFill>
                <a:latin typeface="Arial"/>
              </a:rPr>
              <a:t>a complexidade é igual; cache e layout de memória decidem o resultado.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Otimização guiada por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Hipótese: a binária perde tempo com desvios mal previstos. Solução: tirar o if do laço.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7F8C99"/>
                </a:solidFill>
                <a:latin typeface="Courier New"/>
              </a:rPr>
              <a:t>// antes: um if difícil de prever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while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(lo &lt; hi) {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mid = lo + (hi - lo) / 2;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5CC8BC"/>
                </a:solidFill>
                <a:latin typeface="Courier New"/>
              </a:rPr>
              <a:t>if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(values[mid] &lt; target) lo = mid + 1;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else                      hi = mid;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}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7F8C99"/>
                </a:solidFill>
                <a:latin typeface="Courier New"/>
              </a:rPr>
              <a:t>// depois: seleção sem desvio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C8BC"/>
                </a:solidFill>
                <a:latin typeface="Courier New"/>
              </a:rPr>
              <a:t>while</a:t>
            </a:r>
            <a:r>
              <a:rPr sz="1300" b="0" i="0">
                <a:solidFill>
                  <a:srgbClr val="E6EAF0"/>
                </a:solidFill>
                <a:latin typeface="Courier New"/>
              </a:rPr>
              <a:t> (len &gt; 1) {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half = len / 2;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base = (base[half] &lt; target)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           ? base + half : base;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  len -= half;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6A3"/>
                </a:solidFill>
                <a:latin typeface="Arial"/>
              </a:rPr>
              <a:t>CONFERINDO O ASSEMBLY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8463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$ objdump -d bin/Release/benchmarks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cmp    (%rsi),%edi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cmovg  %rsi,%rdx     &lt;- sem jump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E6EAF0"/>
                </a:solidFill>
                <a:latin typeface="Courier New"/>
              </a:rPr>
              <a:t>  sub    %rcx,%rax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114800"/>
            <a:ext cx="5303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22A"/>
                </a:solidFill>
                <a:latin typeface="Arial"/>
              </a:rPr>
              <a:t>O laço executa sempre o mesmo número de passos; só o endereço muda.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22A"/>
                </a:solidFill>
                <a:latin typeface="Arial"/>
              </a:rPr>
              <a:t>A CPU não precisa adivinhar o lado da busca, e cada erro de previsão custa da ordem de 15 ciclos.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B222A"/>
                </a:solidFill>
                <a:latin typeface="Arial"/>
              </a:rPr>
              <a:t>Os testes unitários confirmam que o resultado é igual ao da linear.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Resultado: compare.py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B6772"/>
                </a:solidFill>
                <a:latin typeface="Arial"/>
              </a:rPr>
              <a:t>Tempo por consulta (ns), mediana de 10 repetições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64592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91640"/>
            <a:ext cx="4206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6B2C"/>
                </a:solidFill>
                <a:latin typeface="Arial"/>
              </a:rPr>
              <a:t>−77%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58775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tempo (média geométrica em todos os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063240"/>
            <a:ext cx="4206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22A"/>
                </a:solidFill>
                <a:latin typeface="Arial"/>
              </a:rPr>
              <a:t>p = 0,0002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59352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Mann-Whitney U-test, 10 × 10 repetições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480560"/>
            <a:ext cx="4160520" cy="1417320"/>
          </a:xfrm>
          <a:prstGeom prst="roundRect">
            <a:avLst>
              <a:gd name="adj" fmla="val 4000"/>
            </a:avLst>
          </a:prstGeom>
          <a:solidFill>
            <a:srgbClr val="1F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709160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AF0"/>
                </a:solidFill>
                <a:latin typeface="Courier New"/>
              </a:rPr>
              <a:t>$ compare.py benchmarksfiltered \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AF0"/>
                </a:solidFill>
                <a:latin typeface="Courier New"/>
              </a:rPr>
              <a:t>    v2.json BM_BinarySearch \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AF0"/>
                </a:solidFill>
                <a:latin typeface="Courier New"/>
              </a:rPr>
              <a:t>    v2.json BM_BranchlessBinarySearch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AF0"/>
                </a:solidFill>
                <a:latin typeface="Courier New"/>
              </a:rPr>
              <a:t>OVERALL_GEOMEAN   -0.7748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222A"/>
                </a:solidFill>
                <a:latin typeface="Arial"/>
              </a:rPr>
              <a:t>Checklist de boas práticas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Release, flags de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-O3, as mesmas flags do binário real</a:t>
            </a:r>
          </a:p>
        </p:txBody>
      </p:sp>
      <p:sp>
        <p:nvSpPr>
          <p:cNvPr id="6" name="Oval 5"/>
          <p:cNvSpPr/>
          <p:nvPr/>
        </p:nvSpPr>
        <p:spPr>
          <a:xfrm>
            <a:off x="6217920" y="160020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554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Só o essencial no laço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Setup fora; PauseTiming só se não houver alternativa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34639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DoNotOptimize no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72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E ClobberMemory quando escreve em memória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834639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88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Dados realistas e variados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172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Padrões repetidos são aprendidos pela CPU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23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Repetições + mediana + 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074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--benchmark_repetitions, CV abaixo de 2%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06908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023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Ambiente controlado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40740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taskset, governor performance, máquina ociosa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57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Compare com estatística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6418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compare.py e p-valor, não comparar no olho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5303520"/>
            <a:ext cx="420624" cy="420624"/>
          </a:xfrm>
          <a:prstGeom prst="ellipse">
            <a:avLst/>
          </a:prstGeom>
          <a:solidFill>
            <a:srgbClr val="16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257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22A"/>
                </a:solidFill>
                <a:latin typeface="Arial"/>
              </a:rPr>
              <a:t>Microbenchmark ≠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6418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772"/>
                </a:solidFill>
                <a:latin typeface="Arial"/>
              </a:rPr>
              <a:t>Confirme no programa real com perf ou um profiler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C9D1D9"/>
                </a:solidFill>
                <a:latin typeface="Arial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2C"/>
                </a:solidFill>
                <a:latin typeface="Arial"/>
              </a:rPr>
              <a:t>Repositório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39319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5DCE3"/>
                </a:solidFill>
                <a:latin typeface="Courier New"/>
              </a:rPr>
              <a:t>github.com/google/benchmark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2C"/>
                </a:solidFill>
                <a:latin typeface="Arial"/>
              </a:rPr>
              <a:t>Guia do usuário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44348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5DCE3"/>
                </a:solidFill>
                <a:latin typeface="Courier New"/>
              </a:rPr>
              <a:t>github.com/google/benchmark/blob/main/docs/user_guide.md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2C"/>
                </a:solidFill>
                <a:latin typeface="Arial"/>
              </a:rPr>
              <a:t>Comparação A/B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9377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5DCE3"/>
                </a:solidFill>
                <a:latin typeface="Courier New"/>
              </a:rPr>
              <a:t>github.com/google/benchmark/blob/main/docs/tools.md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2C"/>
                </a:solidFill>
                <a:latin typeface="Arial"/>
              </a:rPr>
              <a:t>Código do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4406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5DCE3"/>
                </a:solidFill>
                <a:latin typeface="Courier New"/>
              </a:rPr>
              <a:t>GBENCH_PILOT  (./run -B)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